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JI SUDA" userId="574e7532d02ee517" providerId="LiveId" clId="{EF51A865-2401-4EBF-BDD3-163369DE5523}"/>
    <pc:docChg chg="modSld">
      <pc:chgData name="BALAJI SUDA" userId="574e7532d02ee517" providerId="LiveId" clId="{EF51A865-2401-4EBF-BDD3-163369DE5523}" dt="2026-09-22T14:08:54.538" v="3" actId="20577"/>
      <pc:docMkLst>
        <pc:docMk/>
      </pc:docMkLst>
      <pc:sldChg chg="modSp mod">
        <pc:chgData name="BALAJI SUDA" userId="574e7532d02ee517" providerId="LiveId" clId="{EF51A865-2401-4EBF-BDD3-163369DE5523}" dt="2026-09-22T14:08:54.538" v="3" actId="20577"/>
        <pc:sldMkLst>
          <pc:docMk/>
          <pc:sldMk cId="0" sldId="259"/>
        </pc:sldMkLst>
        <pc:spChg chg="mod">
          <ac:chgData name="BALAJI SUDA" userId="574e7532d02ee517" providerId="LiveId" clId="{EF51A865-2401-4EBF-BDD3-163369DE5523}" dt="2026-09-22T14:08:54.538" v="3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ZETHETA SECURITISATION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5B9BD5"/>
                </a:solidFill>
                <a:latin typeface="Segoe UI"/>
              </a:rPr>
              <a:t>Data Analyst Project 1A</a:t>
            </a:r>
          </a:p>
          <a:p>
            <a:r>
              <a:rPr sz="1900" dirty="0">
                <a:solidFill>
                  <a:srgbClr val="FFFFFF"/>
                </a:solidFill>
                <a:latin typeface="Segoe UI"/>
              </a:rPr>
              <a:t>Auto-Loan </a:t>
            </a:r>
            <a:r>
              <a:rPr sz="1900" dirty="0" err="1">
                <a:solidFill>
                  <a:srgbClr val="FFFFFF"/>
                </a:solidFill>
                <a:latin typeface="Segoe UI"/>
              </a:rPr>
              <a:t>Securitisation</a:t>
            </a:r>
            <a:r>
              <a:rPr sz="1900" dirty="0">
                <a:solidFill>
                  <a:srgbClr val="FFFFFF"/>
                </a:solidFill>
                <a:latin typeface="Segoe UI"/>
              </a:rPr>
              <a:t> Portfolio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Segoe UI"/>
              </a:rPr>
              <a:t>Microsoft Power BI  •  DAX  •  Excel  •  DAX Studio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9791A-F8C7-8A2A-5871-8C655C014ACD}"/>
              </a:ext>
            </a:extLst>
          </p:cNvPr>
          <p:cNvSpPr txBox="1"/>
          <p:nvPr/>
        </p:nvSpPr>
        <p:spPr>
          <a:xfrm>
            <a:off x="822960" y="3647768"/>
            <a:ext cx="4614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by: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RAMU SUDA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MCA — 2024–2026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End-to-end Data Analyst project for an auto-loan </a:t>
            </a:r>
            <a:r>
              <a:rPr dirty="0" err="1"/>
              <a:t>securitisation</a:t>
            </a:r>
            <a:r>
              <a:rPr dirty="0"/>
              <a:t> portfolio.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Covers balances, delinquency, defaults, recoveries, prepayments and losses.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Includes IFRS 9 ECL validation, stress testing, waterfall and trigger analysis.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Provides investor and rating-oriented reporting.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Includes five RLS roles and DAX Studio performance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t>• Portfolio balances and risk indicators need consistent monitoring.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t>• Delinquency, ECL, recoveries and prepayments must be analysed together.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t>• Investor, waterfall and rating-oriented outputs require reliable measures.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t>• A single Power BI reporting layer improves visibility and repeatability.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F4E79"/>
                </a:solidFill>
                <a:latin typeface="Segoe U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Build a Power BI dashboard for </a:t>
            </a:r>
            <a:r>
              <a:rPr dirty="0" err="1"/>
              <a:t>securitisation</a:t>
            </a:r>
            <a:r>
              <a:rPr dirty="0"/>
              <a:t> analysis.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Create formula-driven DAX measures for key risk metrics.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</a:t>
            </a:r>
            <a:r>
              <a:t>Anal</a:t>
            </a:r>
            <a:r>
              <a:rPr lang="en-US" dirty="0"/>
              <a:t>y</a:t>
            </a:r>
            <a:r>
              <a:t>se</a:t>
            </a:r>
            <a:r>
              <a:rPr dirty="0"/>
              <a:t> DPD buckets and default </a:t>
            </a:r>
            <a:r>
              <a:rPr dirty="0" err="1"/>
              <a:t>behaviour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Validate IFRS 9 ECL against Excel.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Perform recovery, prepayment and interest-rate stress scenarios.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Provide investor, waterfall and rating-agency views.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Validate RLS and DAX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39"/>
            <a:ext cx="10698480" cy="841247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auto_loan_securitisation_data.csv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19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Primary auto-loan portfolio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67127"/>
            <a:ext cx="10698480" cy="841247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dpd_snapshot_history.csv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10332719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Delinquency snapshot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99815"/>
            <a:ext cx="10698480" cy="841247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dynamic_loss_monthly.csv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32719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Monthly dynamic loss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32504"/>
            <a:ext cx="10698480" cy="841246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169664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static_pool_vintage_data.csv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81144"/>
            <a:ext cx="10332719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Static pool and vintage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65191"/>
            <a:ext cx="10698480" cy="813815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02352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Day9_IFRS9_ECL_Crosscheck.xlsx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13831"/>
            <a:ext cx="10332719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Excel IFRS 9 ECL validation workbook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Data Model /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DimLoan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DimBorrower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DimVehicle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77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DimGeography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DimDate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FactMonthlyPerformance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69080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FactStaticPool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79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663440"/>
            <a:ext cx="5074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800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FactDynamicLoss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12079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Dimension / fact table in the semantic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Dashboard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51206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Page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DPD &amp; Delinquency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1206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32588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Page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Cumulative Loss / Default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51206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Page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IFRS 9 ECL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51206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Page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7180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Stress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1206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9476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Page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Investor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1206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Page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Waterfall &amp; Trigger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1206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Page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Rating Agency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DPD &amp; Delinquency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DPD 30+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14.00%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234440"/>
            <a:ext cx="54864" cy="1325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7530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DPD 60+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C000"/>
                </a:solidFill>
                <a:latin typeface="Segoe UI"/>
              </a:rPr>
              <a:t>10.59%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DPD 90+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5.57%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39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53143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Default Loan 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3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34640"/>
            <a:ext cx="53035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97180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DPD Balance by Delinquency Bucket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83280"/>
            <a:ext cx="4937759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X-axis: DPD_Bucket
Y-axis: Total DPD Balance.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34640"/>
            <a:ext cx="53035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97180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Loan Count by Delinquency Bucket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4937759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X-axis: DPD_Bucket
Y-axis: Total DPD Loan Count.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IFRS 9 ECL Analysis &amp;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4864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Power BI ECL — Row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70AD47"/>
                </a:solidFill>
                <a:latin typeface="Segoe UI"/>
              </a:rPr>
              <a:t>7,507.75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54864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Power BI ECL — Row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70AD47"/>
                </a:solidFill>
                <a:latin typeface="Segoe UI"/>
              </a:rPr>
              <a:t>8,502.42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Total ECL Provision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11.66M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5257800" cy="2468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79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Excel Cross-check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4892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Row 1 calculated: 7,507.750575; difference: 0.000575.
Row 2 calculated: 8,502.419539; difference: -0.000461.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5257800" cy="2468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79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Segoe UI"/>
              </a:rPr>
              <a:t>Validation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37560"/>
            <a:ext cx="4892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Power BI outputs match the Excel cross-check at normal rounding / precision level.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Stress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54864" cy="1325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Recovery Stress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C000"/>
                </a:solidFill>
                <a:latin typeface="Segoe UI"/>
              </a:rPr>
              <a:t>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234440"/>
            <a:ext cx="54864" cy="1325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7530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Stressed Recoveries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C000"/>
                </a:solidFill>
                <a:latin typeface="Segoe UI"/>
              </a:rPr>
              <a:t>317.27K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13258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Prepayment 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F75B5"/>
                </a:solidFill>
                <a:latin typeface="Segoe UI"/>
              </a:rPr>
              <a:t>1.31M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39" y="12344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53143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Interest Rate Shock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3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11.03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88920"/>
            <a:ext cx="5257800" cy="25146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926079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Scenario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D2D2D"/>
                </a:solidFill>
                <a:latin typeface="Segoe UI"/>
              </a:rPr>
              <a:t>Recovery reduced by 20%, prepayment increased by 20%, and average interest rate shocked upward by 0.02.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788920"/>
            <a:ext cx="5257800" cy="25146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926079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Segoe UI"/>
              </a:rPr>
              <a:t>Stress ECL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9204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2D2D2D"/>
                </a:solidFill>
                <a:latin typeface="Segoe UI"/>
              </a:rPr>
              <a:t>Current report card shows Stress ECL Impact of approximately 4.33M.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Investor 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Total Current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317.79M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80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26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Original Pool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546.07M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66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12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Loans 60+ DPD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57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98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Monthly SMM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0.82%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38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84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Recovery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4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31.09%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0632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Defaulted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 dirty="0">
                <a:solidFill>
                  <a:srgbClr val="C00000"/>
                </a:solidFill>
                <a:latin typeface="Segoe UI"/>
              </a:rPr>
              <a:t>6.79M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0360" y="30632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26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Total Gross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6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1.28M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66360" y="30632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12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Total Recoveries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396.59K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52360" y="30632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98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Total Net Loss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879.04K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38360" y="30632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84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Total Prepayments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4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1.09M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074920"/>
            <a:ext cx="109728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21208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Reporting 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623559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Two line charts use Total Amount Overdue as the Y-axis.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Waterfall &amp; Trigger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Senior Tranche Allocation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80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26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Junior Tranche Allocation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95.34M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66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12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Credit Enhancement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98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Credit Enhancement 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95.34M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38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84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Allocation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4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0.00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063240"/>
            <a:ext cx="54864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Default Rate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70AD47"/>
                </a:solidFill>
                <a:latin typeface="Segoe UI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0360" y="3063240"/>
            <a:ext cx="54864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26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Excess Spread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6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70AD47"/>
                </a:solidFill>
                <a:latin typeface="Segoe UI"/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66360" y="3063240"/>
            <a:ext cx="54864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12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Waterfall Trigger 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70AD47"/>
                </a:solidFill>
                <a:latin typeface="Segoe UI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52360" y="3063240"/>
            <a:ext cx="54864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98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Waterfall Trigger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70AD47"/>
                </a:solidFill>
                <a:latin typeface="Segoe UI"/>
              </a:rPr>
              <a:t>No Trigger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38360" y="30632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84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Illustrative Assumption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4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70% senior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074920"/>
            <a:ext cx="109728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521208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C000"/>
                </a:solidFill>
                <a:latin typeface="Segoe UI"/>
              </a:rPr>
              <a:t>Important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623559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Waterfall assumptions are illustrative and should not be treated as contractual terms.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Rating Agency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Cumulative Net Loss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Cumulative net loss rate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Segoe UI"/>
              </a:rPr>
              <a:t>Cumulative Default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Cumulative default balance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Segoe UI"/>
              </a:rPr>
              <a:t>Cumulative Recoveries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Cumulative recovery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Cumulative Prepayments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6324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Cumulative prepayment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107899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Vintage Reporting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10424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2D2D2D"/>
                </a:solidFill>
                <a:latin typeface="Segoe UI"/>
              </a:rPr>
              <a:t>Vintage ID, months on books, original pool balance, cumulative default balance, cumulative gross loss, cumulative net loss, cumulative net loss rate, cumulative recoveries and cumulative prepayments.</a:t>
            </a:r>
            <a:endParaRPr lang="en-US" sz="1200" dirty="0">
              <a:solidFill>
                <a:srgbClr val="2D2D2D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RLS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41731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Servicer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470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SVC001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141731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Servicer Viewer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470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SVC002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28016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141731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Risk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8470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SVC003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803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880360"/>
            <a:ext cx="54864" cy="13258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3017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Investor 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34472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F75B5"/>
                </a:solidFill>
                <a:latin typeface="Segoe UI"/>
              </a:rPr>
              <a:t>SVC004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8803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2880360"/>
            <a:ext cx="54864" cy="13258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5424" y="3017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Auditor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4472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F75B5"/>
                </a:solidFill>
                <a:latin typeface="Segoe UI"/>
              </a:rPr>
              <a:t>SVC005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106984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Segoe UI"/>
              </a:rPr>
              <a:t>Security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79"/>
            <a:ext cx="103327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Five static RLS roles were configured and validated.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DAX Measures &amp; Performance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41731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Validated Measure Entries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470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801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280160"/>
            <a:ext cx="54864" cy="13258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41731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Unique Validated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F75B5"/>
                </a:solidFill>
                <a:latin typeface="Segoe UI"/>
              </a:rPr>
              <a:t>84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54864" cy="1325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84464" y="141731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Representative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84708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70AD47"/>
                </a:solidFill>
                <a:latin typeface="Segoe UI"/>
              </a:rPr>
              <a:t>13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Performance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4632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Representative DAX query target: below 100 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1208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Segoe UI"/>
              </a:rPr>
              <a:t>DAX Studio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484632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Final representative query completed in 13 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Key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Current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317.79M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80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26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Original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6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546.07M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66360" y="12344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12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Loan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500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12344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98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Default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1.8%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2344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38360" y="12344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84664" y="13716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Defaulted 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4664" y="18013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6.79M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0632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ECL Provision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11.66M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0360" y="30632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26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Net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6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879.04K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66360" y="30632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12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Recoveries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396.59K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452360" y="3063240"/>
            <a:ext cx="54864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98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DAX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Segoe UI"/>
              </a:rPr>
              <a:t>13 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306324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38360" y="3063240"/>
            <a:ext cx="54864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84664" y="32004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4E79"/>
                </a:solidFill>
                <a:latin typeface="Segoe UI"/>
              </a:rPr>
              <a:t>DPD 30+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84664" y="363016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Segoe UI"/>
              </a:rPr>
              <a:t>14.00%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Tools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19"/>
            <a:ext cx="10698480" cy="822959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19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Dashboarding and semantic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19"/>
            <a:ext cx="10698480" cy="822959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79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DAX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19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Calculated measures and risk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82295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DAX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32719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Performance testing and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82295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75B5"/>
                </a:solidFill>
                <a:latin typeface="Segoe UI"/>
              </a:rPr>
              <a:t>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10332719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IFRS 9 ECL cross-check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10698480" cy="822958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59"/>
            <a:ext cx="10332719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2D2D"/>
                </a:solidFill>
                <a:latin typeface="Segoe UI"/>
              </a:rPr>
              <a:t>Portfolio and supporting datasets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Waterfall allocation assumptions are illustrative and should be replaced with contractual terms when available.</a:t>
            </a:r>
          </a:p>
          <a:p>
            <a:pPr algn="just"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RLS is static for the project demonstration; production can use dynamic identity-based mapping.</a:t>
            </a:r>
          </a:p>
          <a:p>
            <a:pPr algn="just"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Rating-oriented fields are presented for reporting analysis; external rating criteria are not independently verified here.</a:t>
            </a:r>
          </a:p>
          <a:p>
            <a:pPr algn="just">
              <a:spcAft>
                <a:spcPts val="900"/>
              </a:spcAft>
              <a:defRPr sz="1700">
                <a:solidFill>
                  <a:srgbClr val="2D2D2D"/>
                </a:solidFill>
                <a:latin typeface="Segoe UI"/>
              </a:defRPr>
            </a:pPr>
            <a:r>
              <a:rPr dirty="0"/>
              <a:t>• Future work can include automated refresh, richer scenario controls and deeper vintage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F4E79"/>
                </a:solidFill>
                <a:latin typeface="Segoe UI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212080" cy="4343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Segoe UI"/>
              </a:rPr>
              <a:t>What the Project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758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2D2D2D"/>
                </a:solidFill>
                <a:latin typeface="Segoe UI"/>
              </a:rPr>
              <a:t>A complete Power BI securitisation analytics solution covering portfolio monitoring, delinquency, ECL, stress testing, investor reporting, waterfall triggers and rating-oriented analysis.</a:t>
            </a:r>
            <a:endParaRPr lang="en-US" sz="1200" dirty="0">
              <a:solidFill>
                <a:srgbClr val="2D2D2D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212080" cy="43434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Segoe UI"/>
              </a:rPr>
              <a:t>Validation &amp;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19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2D2D2D"/>
                </a:solidFill>
                <a:latin typeface="Segoe UI"/>
              </a:rPr>
              <a:t>IFRS 9 ECL was cross-checked against Excel at rounding-level differences. Five RLS roles were validated and representative DAX performance was 13 ms against a &lt;100 ms target.</a:t>
            </a:r>
            <a:endParaRPr lang="en-US" sz="1200" dirty="0">
              <a:solidFill>
                <a:srgbClr val="2D2D2D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A5A5"/>
                </a:solidFill>
                <a:latin typeface="Segoe UI"/>
              </a:rPr>
              <a:t>Zetheta Project 1A — Data Analyst – Securitisation   |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B9BD5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1201</Words>
  <Application>Microsoft Office PowerPoint</Application>
  <PresentationFormat>Widescreen</PresentationFormat>
  <Paragraphs>247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BALAJI SUDA</cp:lastModifiedBy>
  <cp:revision>4</cp:revision>
  <dcterms:created xsi:type="dcterms:W3CDTF">2013-01-27T09:14:16Z</dcterms:created>
  <dcterms:modified xsi:type="dcterms:W3CDTF">2026-09-22T14:08:55Z</dcterms:modified>
  <cp:category/>
</cp:coreProperties>
</file>